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4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81" r:id="rId18"/>
    <p:sldId id="270" r:id="rId19"/>
    <p:sldId id="271" r:id="rId20"/>
    <p:sldId id="282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10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0" Type="http://schemas.openxmlformats.org/officeDocument/2006/relationships/notesSlide" Target="../notesSlides/notesSlide13.xml"/><Relationship Id="rId2" Type="http://schemas.openxmlformats.org/officeDocument/2006/relationships/tags" Target="../tags/tag30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image" Target="../media/image5.png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image" Target="../media/image4.png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6.png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image" Target="../media/image14.png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0" Type="http://schemas.openxmlformats.org/officeDocument/2006/relationships/notesSlide" Target="../notesSlides/notesSlide18.xml"/><Relationship Id="rId1" Type="http://schemas.openxmlformats.org/officeDocument/2006/relationships/tags" Target="../tags/tag5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73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742950"/>
            <a:ext cx="3143250" cy="3143250"/>
          </a:xfrm>
          <a:prstGeom prst="ellipse">
            <a:avLst/>
          </a:prstGeom>
          <a:solidFill>
            <a:srgbClr val="E8F4F1"/>
          </a:solidFill>
          <a:ln w="0">
            <a:solidFill>
              <a:srgbClr val="E8F4F1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239250" y="2952750"/>
            <a:ext cx="2000250" cy="2000250"/>
          </a:xfrm>
          <a:prstGeom prst="ellipse">
            <a:avLst/>
          </a:prstGeom>
          <a:solidFill>
            <a:srgbClr val="F6B26B"/>
          </a:solidFill>
          <a:ln w="0">
            <a:solidFill>
              <a:srgbClr val="F6B26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64770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l">
              <a:def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6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38250"/>
            <a:ext cx="6096000" cy="1600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l">
              <a:defRPr sz="33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Node.js 和 React 的社区“智慧助老”服务对接平台</a:t>
            </a:r>
            <a:endParaRPr sz="33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3028950"/>
            <a:ext cx="5715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l">
              <a:defRPr sz="16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面向老年人、家属、志愿者与社区管理员的多端协同服务平台</a:t>
            </a:r>
            <a:endParaRPr sz="165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953375" y="1524000"/>
            <a:ext cx="1219200" cy="32385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48625" y="1571625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需求发布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382125" y="2209800"/>
            <a:ext cx="1219200" cy="323850"/>
          </a:xfrm>
          <a:prstGeom prst="rect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477375" y="2257425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任务匹配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96250" y="3219450"/>
            <a:ext cx="1219200" cy="3238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191500" y="3267075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过程跟踪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620250" y="4000500"/>
            <a:ext cx="1219200" cy="32385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715500" y="4048125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评价反馈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5286375"/>
            <a:ext cx="4953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l">
              <a:defRPr sz="16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答辩人：汪序磊</a:t>
            </a:r>
            <a:endParaRPr sz="16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指导教师：余小军</a:t>
            </a:r>
            <a:endParaRPr sz="16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东华理工大学 软件学院</a:t>
            </a:r>
            <a:endParaRPr sz="16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0" y="5476875"/>
            <a:ext cx="314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社区养老服务数字化闭环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19100"/>
            <a:ext cx="342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25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论文查重报告</a:t>
            </a:r>
            <a:endParaRPr sz="25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93345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毕业论文（设计）管理系统检测结果</a:t>
            </a:r>
            <a:endParaRPr sz="135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943" y="1352550"/>
            <a:ext cx="8788114" cy="41719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1476375" y="5762625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76375" y="5762625"/>
            <a:ext cx="76200" cy="6667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704975" y="5867400"/>
            <a:ext cx="2362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去除本人文献复制比</a:t>
            </a:r>
            <a:endParaRPr sz="13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2.3%</a:t>
            </a:r>
            <a:endParaRPr sz="13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667250" y="5762625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67250" y="5762625"/>
            <a:ext cx="76200" cy="666750"/>
          </a:xfrm>
          <a:prstGeom prst="rect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95850" y="5867400"/>
            <a:ext cx="2362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审核状态</a:t>
            </a:r>
            <a:endParaRPr sz="13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审核通过</a:t>
            </a:r>
            <a:endParaRPr sz="13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58125" y="5762625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858125" y="5762625"/>
            <a:ext cx="76200" cy="66675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86725" y="5867400"/>
            <a:ext cx="2362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校内互检</a:t>
            </a:r>
            <a:endParaRPr sz="13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3.9%</a:t>
            </a:r>
            <a:endParaRPr sz="13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342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25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答辩内容</a:t>
            </a:r>
            <a:r>
              <a:rPr lang="zh-CN" sz="25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zh-CN" sz="25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066800"/>
            <a:ext cx="590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围绕“为什么做、怎么设计、如何实现、效果如何”展开</a:t>
            </a:r>
            <a:endParaRPr sz="135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16192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33450" y="1790700"/>
            <a:ext cx="400050" cy="4000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1847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04950" y="17430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研究背景与意义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04950" y="20193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养老服务需求与平台建设价值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10375" y="16192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6981825" y="1790700"/>
            <a:ext cx="400050" cy="4000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981825" y="1847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553325" y="17430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国内外研究现状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553325" y="20193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现有研究启示与不足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25717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33450" y="2743200"/>
            <a:ext cx="400050" cy="4000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33450" y="2800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504950" y="26955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技术架构与选型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04950" y="29718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前后端分离与实时通信方案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10375" y="25717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6981825" y="2743200"/>
            <a:ext cx="400050" cy="4000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981825" y="2800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553325" y="26955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系统需求分析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553325" y="29718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三类角色与核心业务流程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5242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933450" y="3695700"/>
            <a:ext cx="400050" cy="4000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33450" y="3752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504950" y="36480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系统详细设计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04950" y="39243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功能模块、数据库与状态字典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10375" y="35242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31" name="椭圆 30"/>
          <p:cNvSpPr>
            <a:spLocks noGrp="1"/>
          </p:cNvSpPr>
          <p:nvPr/>
        </p:nvSpPr>
        <p:spPr>
          <a:xfrm>
            <a:off x="6981825" y="3695700"/>
            <a:ext cx="400050" cy="4000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981825" y="3752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553325" y="36480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系统实现与展示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553325" y="39243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登录、三端功能与数据看板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62000" y="44767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36" name="椭圆 35"/>
          <p:cNvSpPr>
            <a:spLocks noGrp="1"/>
          </p:cNvSpPr>
          <p:nvPr/>
        </p:nvSpPr>
        <p:spPr>
          <a:xfrm>
            <a:off x="933450" y="4648200"/>
            <a:ext cx="400050" cy="4000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33450" y="4705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504950" y="46005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系统测试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04950" y="48768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功能、流程与异常场景验证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810375" y="44767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41" name="椭圆 40"/>
          <p:cNvSpPr>
            <a:spLocks noGrp="1"/>
          </p:cNvSpPr>
          <p:nvPr/>
        </p:nvSpPr>
        <p:spPr>
          <a:xfrm>
            <a:off x="6981825" y="4648200"/>
            <a:ext cx="400050" cy="4000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981825" y="4705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553325" y="46005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553325" y="48768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成果、创新点与后续优化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000500" y="5953125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重点汇报：系统设计与实现约占 40%</a:t>
            </a:r>
            <a:endParaRPr sz="13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研究背景：社区养老服务需要数字化协同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914400"/>
            <a:ext cx="781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老龄化背景下，服务需求呈现多样化、即时化和过程可追踪的特点</a:t>
            </a:r>
            <a:endParaRPr sz="135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16383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8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服务需求</a:t>
            </a:r>
            <a:endParaRPr sz="18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2095500"/>
            <a:ext cx="1619250" cy="51435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2247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就医陪护</a:t>
            </a:r>
            <a:endParaRPr sz="13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76550" y="2095500"/>
            <a:ext cx="1619250" cy="514350"/>
          </a:xfrm>
          <a:prstGeom prst="rect">
            <a:avLst/>
          </a:prstGeom>
          <a:solidFill>
            <a:srgbClr val="E8F4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876550" y="2247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精神慰藉</a:t>
            </a:r>
            <a:endParaRPr sz="13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991100" y="2095500"/>
            <a:ext cx="1619250" cy="51435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991100" y="2247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紧急求助</a:t>
            </a:r>
            <a:endParaRPr sz="13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105650" y="2095500"/>
            <a:ext cx="1619250" cy="514350"/>
          </a:xfrm>
          <a:prstGeom prst="rect">
            <a:avLst/>
          </a:prstGeom>
          <a:solidFill>
            <a:srgbClr val="E8F4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105650" y="2247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日常代办</a:t>
            </a:r>
            <a:endParaRPr sz="13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220200" y="2095500"/>
            <a:ext cx="1619250" cy="51435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220200" y="2247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康复支持</a:t>
            </a:r>
            <a:endParaRPr sz="13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" y="3333750"/>
            <a:ext cx="3143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28700" y="3524250"/>
            <a:ext cx="495300" cy="49530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28700" y="3590925"/>
            <a:ext cx="49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!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95450" y="35623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信息分散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5850" y="417195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需求依赖电话、微信群和纸质登记，难以及时汇总。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533900" y="3333750"/>
            <a:ext cx="3143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4743450" y="3524250"/>
            <a:ext cx="495300" cy="49530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743450" y="3590925"/>
            <a:ext cx="49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!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410200" y="35623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任务低效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00600" y="417195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志愿者匹配依赖人工经验，响应速度受限。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248650" y="3333750"/>
            <a:ext cx="3143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8458200" y="3524250"/>
            <a:ext cx="495300" cy="49530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458200" y="3590925"/>
            <a:ext cx="49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!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124950" y="35623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过程难追踪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515350" y="417195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服务执行、沟通记录和结果反馈缺少统一闭环。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428750" y="582930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因此，本课题将服务对象、志愿者资源与社区管理流程统一到平台中，实现从需求到反馈的全流程管理。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762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政策与研究意义：从服务供给到闭环治理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600200"/>
            <a:ext cx="32575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600200"/>
            <a:ext cx="3257550" cy="952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1866900"/>
            <a:ext cx="2819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“十四五”国家老龄事业发展和养老服务体系规划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2552700"/>
            <a:ext cx="2743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健全居家、社区、机构相协调，医养康养相结合的养老服务体系。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67225" y="1600200"/>
            <a:ext cx="32575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467225" y="1600200"/>
            <a:ext cx="3257550" cy="9525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76775" y="1866900"/>
            <a:ext cx="2819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关于发展银发经济增进老年人福祉的意见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76775" y="2552700"/>
            <a:ext cx="2743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培育高质量养老服务模式，推进养老服务提质扩容。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53400" y="1600200"/>
            <a:ext cx="32575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153400" y="1600200"/>
            <a:ext cx="3257550" cy="95250"/>
          </a:xfrm>
          <a:prstGeom prst="rect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62950" y="1866900"/>
            <a:ext cx="2819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深化养老服务改革发展的意见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62950" y="2552700"/>
            <a:ext cx="2743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完善养老服务网络，增强服务供给能力。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409700" y="4191000"/>
            <a:ext cx="1257300" cy="125730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514475" y="4572000"/>
            <a:ext cx="1047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整合多方主体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3695700" y="4191000"/>
            <a:ext cx="1257300" cy="125730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800475" y="4572000"/>
            <a:ext cx="1047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实现闭环管理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5981700" y="4191000"/>
            <a:ext cx="1257300" cy="125730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86475" y="4572000"/>
            <a:ext cx="1047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提升服务效率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8267700" y="4191000"/>
            <a:ext cx="1257300" cy="125730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372475" y="4572000"/>
            <a:ext cx="1047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数据辅助决策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524000" y="5905500"/>
            <a:ext cx="9144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课题价值：让养老服务从“人工协调”转向“平台协同 + 数据留痕 + 管理可追踪”。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76250"/>
            <a:ext cx="857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研究现状：已有基础明确，但协同闭环仍有提升空间</a:t>
            </a:r>
            <a:endParaRPr sz="23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9334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国内研究主要集中在平台建设、服务入口、适老化设计和技术架构四类方向</a:t>
            </a:r>
            <a:endParaRPr sz="135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524000"/>
            <a:ext cx="10439400" cy="45720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16478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研究方向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28950" y="16478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代表学者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72125" y="1647825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核心观点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1981200"/>
            <a:ext cx="104394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21240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平台建设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28950" y="212407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朱培垚、凌超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572125" y="210502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资源整合、需求汇聚、任务分发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2533650"/>
            <a:ext cx="10439400" cy="5524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26765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服务入口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028950" y="267652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彭敏学、傅俊哲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72125" y="26574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轻量化入口与小程序形态具有使用优势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3086100"/>
            <a:ext cx="104394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66800" y="32289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适老化设计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028950" y="322897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耿梦瑶、赵敏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572125" y="320992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降低理解负担，跨越数字鸿沟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3638550"/>
            <a:ext cx="10439400" cy="5524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66800" y="37814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028950" y="378142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赵莹德、樊斐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572125" y="37623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物联网感知、微服务架构等技术路线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09650" y="4857750"/>
            <a:ext cx="4724400" cy="876300"/>
          </a:xfrm>
          <a:prstGeom prst="rect">
            <a:avLst/>
          </a:prstGeom>
          <a:solidFill>
            <a:srgbClr val="FFE8CF"/>
          </a:solidFill>
          <a:ln w="0">
            <a:solidFill>
              <a:srgbClr val="FFE8C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238250" y="50101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启示</a:t>
            </a:r>
            <a:endParaRPr sz="16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133600" y="501015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平台建设必须贴合本土社区治理模式和老年用户数字能力。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77000" y="4857750"/>
            <a:ext cx="4724400" cy="876300"/>
          </a:xfrm>
          <a:prstGeom prst="rect">
            <a:avLst/>
          </a:prstGeom>
          <a:solidFill>
            <a:srgbClr val="E8F4F1"/>
          </a:solidFill>
          <a:ln w="0">
            <a:solidFill>
              <a:srgbClr val="E8F4F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705600" y="50101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</a:t>
            </a:r>
            <a:endParaRPr sz="16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600950" y="501015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实时协同、过程闭环、多角色联动仍有进一步优化空间。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76250"/>
            <a:ext cx="7048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需求分析：三类角色覆盖服务全链条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666875"/>
            <a:ext cx="30670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666875"/>
            <a:ext cx="3067050" cy="5143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180022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 / 家属端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" y="246697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注册登录与老人档案</a:t>
            </a:r>
            <a:endParaRPr lang="zh-CN"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4900" y="2895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需求发布与订单查询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33242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实时聊天与结果评价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04900" y="37528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操作简洁、流程清晰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72000" y="1666875"/>
            <a:ext cx="30670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72000" y="1666875"/>
            <a:ext cx="3067050" cy="51435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743450" y="180022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志愿者端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19650" y="246697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任务大厅与地图筛选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19650" y="2895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接单执行与过程反馈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19650" y="33242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积分累计与兑换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819650" y="37528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提升接单效率与参与动力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1666875"/>
            <a:ext cx="30670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86750" y="1666875"/>
            <a:ext cx="3067050" cy="514350"/>
          </a:xfrm>
          <a:prstGeom prst="rect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58200" y="180022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管理员端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34400" y="246697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用户与志愿者审核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34400" y="2895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需求审核与订单调度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34400" y="33242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统计分析与平台运营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34400" y="37528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保障流程规范与资源配置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752600" y="5753100"/>
            <a:ext cx="8686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设计目标：每个角色只看到必要功能，同时共享同一条订单状态链。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6858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技术选型：前后端分离支撑三端协同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914400"/>
            <a:ext cx="666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技术栈选择以成熟、可维护、适合实时服务为原则</a:t>
            </a:r>
            <a:endParaRPr sz="135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1619250"/>
            <a:ext cx="10096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47750" y="1619250"/>
            <a:ext cx="152400" cy="83820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371600" y="17907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前端表现层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52850" y="1762125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 + TypeScript + Redux Toolkit + Ant Design</a:t>
            </a:r>
            <a:endParaRPr sz="13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77100" y="1800225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组件化构建多角色界面，统一状态管理，兼顾适老化 UI。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714625"/>
            <a:ext cx="10096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2714625"/>
            <a:ext cx="152400" cy="83820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71600" y="2886075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后端业务层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52850" y="285750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Node.js + Express + Socket.io</a:t>
            </a:r>
            <a:endParaRPr sz="13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77100" y="289560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 RESTful 服务、实时通信和高并发业务处理。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47750" y="3810000"/>
            <a:ext cx="10096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47750" y="3810000"/>
            <a:ext cx="152400" cy="838200"/>
          </a:xfrm>
          <a:prstGeom prst="rect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71600" y="39814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数据持久层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752850" y="3952875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 + Redis</a:t>
            </a:r>
            <a:endParaRPr sz="13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77100" y="3990975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存储核心业务数据，并支撑缓存与临时状态管理。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47750" y="4905375"/>
            <a:ext cx="10096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7750" y="4905375"/>
            <a:ext cx="152400" cy="83820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371600" y="5076825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可视化能力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752850" y="504825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高德地图 API + ECharts</a:t>
            </a:r>
            <a:endParaRPr sz="13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277100" y="50863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用于地图定位、任务分布展示和运营数据看板。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762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系统架构：表现层、业务层、数据层清晰分工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095500" y="1428750"/>
            <a:ext cx="80010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3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66950" y="1581150"/>
            <a:ext cx="7658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表现层 Presentation</a:t>
            </a:r>
            <a:endParaRPr sz="16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305050" y="1962150"/>
            <a:ext cx="758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 + TypeScript + Ant Design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老人/家属端 | 志愿者端 | 管理端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095500" y="3028950"/>
            <a:ext cx="80010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7C9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266950" y="3181350"/>
            <a:ext cx="7658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业务层 Business</a:t>
            </a:r>
            <a:endParaRPr sz="16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305050" y="3562350"/>
            <a:ext cx="758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Node.js + Express + Socket.io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认证授权 | 需求管控 | 订单流转 | 实时聊天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95500" y="4629150"/>
            <a:ext cx="80010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9D7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266950" y="4781550"/>
            <a:ext cx="7658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 Data</a:t>
            </a:r>
            <a:endParaRPr sz="16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05050" y="5162550"/>
            <a:ext cx="758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 核心业务数据 | Redis 缓存与临时状态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76950" y="2495550"/>
            <a:ext cx="38100" cy="53340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4" name="等腰三角形 13"/>
          <p:cNvSpPr>
            <a:spLocks noGrp="1"/>
          </p:cNvSpPr>
          <p:nvPr/>
        </p:nvSpPr>
        <p:spPr>
          <a:xfrm rot="10800000">
            <a:off x="6000750" y="29146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76950" y="4095750"/>
            <a:ext cx="38100" cy="53340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6" name="等腰三角形 15"/>
          <p:cNvSpPr>
            <a:spLocks noGrp="1"/>
          </p:cNvSpPr>
          <p:nvPr/>
        </p:nvSpPr>
        <p:spPr>
          <a:xfrm rot="10620000">
            <a:off x="6000750" y="45148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038350" y="6019800"/>
            <a:ext cx="8115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架构特点：前后端分离、模块边界明确，便于维护扩展和多端协同。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6858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核心业务流程：需求到评价形成闭环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62000" y="2238375"/>
            <a:ext cx="138112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3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57300" y="2352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52500" y="2676525"/>
            <a:ext cx="1000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发布需求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476500" y="2238375"/>
            <a:ext cx="138112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7C9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971800" y="2352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667000" y="2676525"/>
            <a:ext cx="1000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系统校验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191000" y="2238375"/>
            <a:ext cx="138112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9D7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686300" y="2352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381500" y="2676525"/>
            <a:ext cx="1000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管理员审核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905500" y="2238375"/>
            <a:ext cx="138112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3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400800" y="2352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096000" y="2676525"/>
            <a:ext cx="1000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志愿者接单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620000" y="2238375"/>
            <a:ext cx="138112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7C9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115300" y="2352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810500" y="2676525"/>
            <a:ext cx="1000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服务执行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334500" y="2238375"/>
            <a:ext cx="138112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9D7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829800" y="2352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525000" y="2676525"/>
            <a:ext cx="1000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评价反馈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2143125" y="2647950"/>
            <a:ext cx="333375" cy="5715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3" name="等腰三角形 22"/>
          <p:cNvSpPr>
            <a:spLocks noGrp="1"/>
          </p:cNvSpPr>
          <p:nvPr>
            <p:custDataLst>
              <p:tags r:id="rId20"/>
            </p:custDataLst>
          </p:nvPr>
        </p:nvSpPr>
        <p:spPr>
          <a:xfrm rot="20100000">
            <a:off x="2409825" y="2571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3857625" y="2647950"/>
            <a:ext cx="333375" cy="5715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5" name="等腰三角形 24"/>
          <p:cNvSpPr>
            <a:spLocks noGrp="1"/>
          </p:cNvSpPr>
          <p:nvPr>
            <p:custDataLst>
              <p:tags r:id="rId22"/>
            </p:custDataLst>
          </p:nvPr>
        </p:nvSpPr>
        <p:spPr>
          <a:xfrm rot="19980000">
            <a:off x="4124325" y="2571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5572125" y="2647950"/>
            <a:ext cx="333375" cy="5715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7" name="等腰三角形 26"/>
          <p:cNvSpPr>
            <a:spLocks noGrp="1"/>
          </p:cNvSpPr>
          <p:nvPr>
            <p:custDataLst>
              <p:tags r:id="rId24"/>
            </p:custDataLst>
          </p:nvPr>
        </p:nvSpPr>
        <p:spPr>
          <a:xfrm rot="19980000">
            <a:off x="5838825" y="2571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7286625" y="2647950"/>
            <a:ext cx="333375" cy="5715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9" name="等腰三角形 28"/>
          <p:cNvSpPr>
            <a:spLocks noGrp="1"/>
          </p:cNvSpPr>
          <p:nvPr>
            <p:custDataLst>
              <p:tags r:id="rId26"/>
            </p:custDataLst>
          </p:nvPr>
        </p:nvSpPr>
        <p:spPr>
          <a:xfrm rot="19860000">
            <a:off x="7553325" y="2571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9001125" y="2647950"/>
            <a:ext cx="333375" cy="5715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31" name="等腰三角形 30"/>
          <p:cNvSpPr>
            <a:spLocks noGrp="1"/>
          </p:cNvSpPr>
          <p:nvPr>
            <p:custDataLst>
              <p:tags r:id="rId28"/>
            </p:custDataLst>
          </p:nvPr>
        </p:nvSpPr>
        <p:spPr>
          <a:xfrm rot="19920000">
            <a:off x="9267825" y="2571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714625" y="36385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双向实时沟通：老人 / 家属 ↔ 志愿者</a:t>
            </a:r>
            <a:endParaRPr sz="1275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381250" y="4000500"/>
            <a:ext cx="4095750" cy="3810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428750" y="4572000"/>
            <a:ext cx="9334500" cy="876300"/>
          </a:xfrm>
          <a:prstGeom prst="rect">
            <a:avLst/>
          </a:prstGeom>
          <a:solidFill>
            <a:srgbClr val="E8F4F1"/>
          </a:solidFill>
          <a:ln w="0">
            <a:solidFill>
              <a:srgbClr val="E8F4F1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000500" y="4762500"/>
            <a:ext cx="419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状态同步与数据沉淀：订单状态、服务凭证、积分记录、统计分析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581150" y="5791200"/>
            <a:ext cx="9029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流程价值：将人工对接中的分散信息转化为可查询、可追踪、可统计的业务记录。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76250"/>
            <a:ext cx="6477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功能模块设计：围绕三端职责拆分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809750"/>
            <a:ext cx="3143250" cy="3095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5850" y="201930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 / 家属端</a:t>
            </a:r>
            <a:endParaRPr sz="16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1143000" y="2514600"/>
            <a:ext cx="95250" cy="952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333500" y="24384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注册登录模块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143000" y="2914650"/>
            <a:ext cx="95250" cy="952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33500" y="28384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老人档案模块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43000" y="3314700"/>
            <a:ext cx="95250" cy="952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33500" y="32385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需求发布模块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43000" y="3714750"/>
            <a:ext cx="95250" cy="952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33500" y="36385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订单跟踪模块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143000" y="4114800"/>
            <a:ext cx="95250" cy="952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33500" y="4038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聊天沟通模块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143000" y="4514850"/>
            <a:ext cx="95250" cy="952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33500" y="4438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评价反馈模块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24375" y="1809750"/>
            <a:ext cx="3143250" cy="3095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733925" y="201930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志愿者端</a:t>
            </a:r>
            <a:endParaRPr sz="16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4791075" y="2514600"/>
            <a:ext cx="95250" cy="952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981575" y="24384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任务大厅模块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4791075" y="2914650"/>
            <a:ext cx="95250" cy="952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81575" y="28384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地图接单模块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4791075" y="3314700"/>
            <a:ext cx="95250" cy="952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981575" y="32385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服务执行模块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4791075" y="3714750"/>
            <a:ext cx="95250" cy="952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981575" y="36385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过程回传模块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4791075" y="4114800"/>
            <a:ext cx="95250" cy="952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981575" y="4038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积分奖励模块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4791075" y="4514850"/>
            <a:ext cx="95250" cy="952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981575" y="4438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个人信息维护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172450" y="1809750"/>
            <a:ext cx="3143250" cy="3095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382000" y="201930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管理员端</a:t>
            </a:r>
            <a:endParaRPr sz="16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8439150" y="2514600"/>
            <a:ext cx="95250" cy="952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629650" y="24384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用户审核模块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8439150" y="2914650"/>
            <a:ext cx="95250" cy="952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629650" y="28384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订单审核模块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椭圆 37"/>
          <p:cNvSpPr>
            <a:spLocks noGrp="1"/>
          </p:cNvSpPr>
          <p:nvPr/>
        </p:nvSpPr>
        <p:spPr>
          <a:xfrm>
            <a:off x="8439150" y="3314700"/>
            <a:ext cx="95250" cy="952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629650" y="32385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工单调度模块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椭圆 39"/>
          <p:cNvSpPr>
            <a:spLocks noGrp="1"/>
          </p:cNvSpPr>
          <p:nvPr/>
        </p:nvSpPr>
        <p:spPr>
          <a:xfrm>
            <a:off x="8439150" y="3714750"/>
            <a:ext cx="95250" cy="952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629650" y="36385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数据统计模块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椭圆 41"/>
          <p:cNvSpPr>
            <a:spLocks noGrp="1"/>
          </p:cNvSpPr>
          <p:nvPr/>
        </p:nvSpPr>
        <p:spPr>
          <a:xfrm>
            <a:off x="8439150" y="4114800"/>
            <a:ext cx="95250" cy="952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629650" y="4038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平台基础管理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428750" y="5772150"/>
            <a:ext cx="933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模块设计原则：前台降低操作负担，后台强化审核调度，平台侧沉淀可分析数据。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数据库设计：以订单为主线串联用户、档案、沟通与积分</a:t>
            </a:r>
            <a:endParaRPr sz="23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1352550"/>
            <a:ext cx="10553700" cy="47625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14859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数据表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048000" y="14859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核心字段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77150" y="14859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1828800"/>
            <a:ext cx="105537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000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1962150"/>
            <a:ext cx="433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user_id, phone, password, role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77150" y="20002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用户身份与角色管理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2419350"/>
            <a:ext cx="10553700" cy="5905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25908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elder_profile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048000" y="2552700"/>
            <a:ext cx="433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profile_id, owner_user_id, address, health_note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77150" y="259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老人档案与服务地址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" y="3009900"/>
            <a:ext cx="105537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28700" y="31813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service_order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048000" y="3143250"/>
            <a:ext cx="433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order_id, status, service_type, service_time, address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77150" y="31813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订单全生命周期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3600450"/>
            <a:ext cx="10553700" cy="5905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28700" y="37719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chat_message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048000" y="3733800"/>
            <a:ext cx="433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message_id, order_id, content, is_read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77150" y="3771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订单级实时沟通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19150" y="4191000"/>
            <a:ext cx="105537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8700" y="43624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point_record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048000" y="4324350"/>
            <a:ext cx="433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record_id, change_value, reason, balance_after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77150" y="43624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积分激励记录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57300" y="5619750"/>
            <a:ext cx="9677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设计重点：所有服务行为最终沉淀到订单、消息和积分记录中，便于查询、追踪与统计。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742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状态字典：统一状态让多端协同可控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19150" y="2000250"/>
            <a:ext cx="1428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3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33450" y="2152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pending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待审核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781300" y="2000250"/>
            <a:ext cx="1428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287C9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895600" y="2152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approved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已通过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743450" y="2000250"/>
            <a:ext cx="1428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4F9D7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857750" y="2152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assigned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已接单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705600" y="2000250"/>
            <a:ext cx="1428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3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819900" y="2152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in_service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服务中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667750" y="2000250"/>
            <a:ext cx="1428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287C9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782050" y="2152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completed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247900" y="2266950"/>
            <a:ext cx="476250" cy="47625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5" name="等腰三角形 14"/>
          <p:cNvSpPr>
            <a:spLocks noGrp="1"/>
          </p:cNvSpPr>
          <p:nvPr>
            <p:custDataLst>
              <p:tags r:id="rId12"/>
            </p:custDataLst>
          </p:nvPr>
        </p:nvSpPr>
        <p:spPr>
          <a:xfrm rot="5700000">
            <a:off x="2628900" y="2190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4210050" y="2266950"/>
            <a:ext cx="476250" cy="47625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7" name="等腰三角形 16"/>
          <p:cNvSpPr>
            <a:spLocks noGrp="1"/>
          </p:cNvSpPr>
          <p:nvPr>
            <p:custDataLst>
              <p:tags r:id="rId14"/>
            </p:custDataLst>
          </p:nvPr>
        </p:nvSpPr>
        <p:spPr>
          <a:xfrm rot="5700000">
            <a:off x="4591050" y="2190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172200" y="2266950"/>
            <a:ext cx="476250" cy="47625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9" name="等腰三角形 18"/>
          <p:cNvSpPr>
            <a:spLocks noGrp="1"/>
          </p:cNvSpPr>
          <p:nvPr>
            <p:custDataLst>
              <p:tags r:id="rId16"/>
            </p:custDataLst>
          </p:nvPr>
        </p:nvSpPr>
        <p:spPr>
          <a:xfrm rot="5400000">
            <a:off x="6553200" y="2190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134350" y="2266950"/>
            <a:ext cx="476250" cy="47625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1" name="等腰三角形 20"/>
          <p:cNvSpPr>
            <a:spLocks noGrp="1"/>
          </p:cNvSpPr>
          <p:nvPr>
            <p:custDataLst>
              <p:tags r:id="rId18"/>
            </p:custDataLst>
          </p:nvPr>
        </p:nvSpPr>
        <p:spPr>
          <a:xfrm rot="5580000">
            <a:off x="8515350" y="2190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953000" y="3219450"/>
            <a:ext cx="2286000" cy="552450"/>
          </a:xfrm>
          <a:prstGeom prst="rect">
            <a:avLst/>
          </a:prstGeom>
          <a:solidFill>
            <a:srgbClr val="FFE8CF"/>
          </a:solidFill>
          <a:ln w="0">
            <a:solidFill>
              <a:srgbClr val="FFE8C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143500" y="33909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cancelled / 已取消</a:t>
            </a:r>
            <a:endParaRPr sz="13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52500" y="44767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8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关键字段</a:t>
            </a:r>
            <a:endParaRPr sz="18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800350" y="4400550"/>
            <a:ext cx="619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user.role：elder / volunteer / admin</a:t>
            </a:r>
            <a:endParaRPr sz="14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chat_message.message_type：text / image / system</a:t>
            </a:r>
            <a:endParaRPr sz="14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point_record.reason：order_complete / bonus / exchange</a:t>
            </a:r>
            <a:endParaRPr sz="14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352550" y="5924550"/>
            <a:ext cx="9486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价值：前端展示、后端校验和管理端调度使用同一套状态语义，减少业务歧义。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登录与权限：身份识别后进入对应端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1619250"/>
            <a:ext cx="33337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1619250"/>
            <a:ext cx="3333750" cy="41910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1724025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登录表单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2371090"/>
            <a:ext cx="2914650" cy="22860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2651760"/>
            <a:ext cx="2914650" cy="228600"/>
          </a:xfrm>
          <a:prstGeom prst="rect">
            <a:avLst/>
          </a:prstGeom>
          <a:solidFill>
            <a:srgbClr val="F8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3143885"/>
            <a:ext cx="2914650" cy="22860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932430"/>
            <a:ext cx="2914650" cy="228600"/>
          </a:xfrm>
          <a:prstGeom prst="rect">
            <a:avLst/>
          </a:prstGeom>
          <a:solidFill>
            <a:srgbClr val="F8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28750" y="2343150"/>
            <a:ext cx="2190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手机号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角色识别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会话管理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05750" y="1619250"/>
            <a:ext cx="33337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905750" y="1619250"/>
            <a:ext cx="3333750" cy="41910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58150" y="1724025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角色首页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15300" y="2286000"/>
            <a:ext cx="2914650" cy="22860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115300" y="2799080"/>
            <a:ext cx="2914650" cy="228600"/>
          </a:xfrm>
          <a:prstGeom prst="rect">
            <a:avLst/>
          </a:prstGeom>
          <a:solidFill>
            <a:srgbClr val="F8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15300" y="3293745"/>
            <a:ext cx="2914650" cy="22860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15300" y="3543300"/>
            <a:ext cx="2914650" cy="228600"/>
          </a:xfrm>
          <a:prstGeom prst="rect">
            <a:avLst/>
          </a:prstGeom>
          <a:solidFill>
            <a:srgbClr val="F8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34400" y="2224405"/>
            <a:ext cx="2095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 / 家属端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志愿者端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管理员端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762500" y="2686050"/>
            <a:ext cx="2476500" cy="742950"/>
          </a:xfrm>
          <a:prstGeom prst="rect">
            <a:avLst/>
          </a:prstGeom>
          <a:solidFill>
            <a:srgbClr val="E8F4F1"/>
          </a:solidFill>
          <a:ln w="0">
            <a:solidFill>
              <a:srgbClr val="E8F4F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191125" y="2800350"/>
            <a:ext cx="1619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认证授权</a:t>
            </a:r>
            <a:endParaRPr sz="15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路由守卫</a:t>
            </a:r>
            <a:endParaRPr sz="15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210050" y="2971800"/>
            <a:ext cx="552450" cy="47625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39000" y="2971800"/>
            <a:ext cx="666750" cy="47625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428750" y="5695950"/>
            <a:ext cx="933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实现要点：表单校验、身份认证、角色识别、未登录拦截和按角色跳转。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4572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登录页面实现</a:t>
            </a:r>
            <a:endParaRPr lang="zh-CN"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08915" y="1256665"/>
            <a:ext cx="5621020" cy="470598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346190" y="1257300"/>
            <a:ext cx="5621020" cy="470471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20" y="1409700"/>
            <a:ext cx="4676775" cy="41382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870" y="1409700"/>
            <a:ext cx="4137025" cy="429069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576070" y="6062345"/>
            <a:ext cx="9171305" cy="10941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真实页面展示：</a:t>
            </a:r>
            <a:r>
              <a:rPr lang="zh-CN"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用户登录与注册界面展示</a:t>
            </a: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 / 家属端：低认知负担的服务入口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14350" y="1314450"/>
            <a:ext cx="36195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7700" y="1428750"/>
            <a:ext cx="3352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首页：个人资料与近期动态</a:t>
            </a:r>
            <a:endParaRPr sz="13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8650" y="2727902"/>
            <a:ext cx="3390900" cy="159269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286250" y="1314450"/>
            <a:ext cx="36195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419600" y="1428750"/>
            <a:ext cx="3352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发布需求：表单校验与地图选点</a:t>
            </a:r>
            <a:endParaRPr sz="13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480792" y="1752600"/>
            <a:ext cx="3230417" cy="35433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058150" y="1314450"/>
            <a:ext cx="36195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191500" y="1428750"/>
            <a:ext cx="3352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订单跟踪：状态分类与进度查看</a:t>
            </a:r>
            <a:endParaRPr sz="13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172450" y="2493048"/>
            <a:ext cx="3390900" cy="2062404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916940" y="5905500"/>
            <a:ext cx="10132060" cy="7023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真实页面展示：入口聚合、表单完整性校验、订单状态可视化，降低老年人和家属的操作负担。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创新点：需求发布文字转语音，地图选点功能，针对老年人提升系统易用性</a:t>
            </a:r>
            <a:endParaRPr lang="zh-CN"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857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志愿者端：任务大厅与地图辅助提升接单效率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8940" y="1257300"/>
            <a:ext cx="5621020" cy="38023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537335"/>
            <a:ext cx="487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任务大厅列表视图：快速浏览与一键接单</a:t>
            </a:r>
            <a:endParaRPr sz="15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2238375"/>
            <a:ext cx="4895850" cy="148145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343650" y="1257300"/>
            <a:ext cx="5219700" cy="382143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86550" y="1411605"/>
            <a:ext cx="487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地图视图：附近实时需求分布</a:t>
            </a:r>
            <a:endParaRPr sz="15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360" y="1765935"/>
            <a:ext cx="4876165" cy="305752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576070" y="5417820"/>
            <a:ext cx="9171305" cy="10941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真实页面展示：列表适合快速筛选，地图结合距离与出行成本辅助志愿者判断。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857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</a:t>
            </a: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</a:t>
            </a:r>
            <a:r>
              <a:rPr lang="zh-CN"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订单详情</a:t>
            </a: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订单情况一览图</a:t>
            </a:r>
            <a:endParaRPr lang="zh-CN"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8940" y="1257300"/>
            <a:ext cx="5621020" cy="38023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343650" y="1257300"/>
            <a:ext cx="5219700" cy="382143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95" y="1462405"/>
            <a:ext cx="5096510" cy="31819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250" y="1423035"/>
            <a:ext cx="5015865" cy="322135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576070" y="5417820"/>
            <a:ext cx="9171305" cy="10941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真实页面展示：</a:t>
            </a:r>
            <a:r>
              <a:rPr lang="zh-CN"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通过点击订单详情查看聊天记录，完成情况，评价评语，志愿者获得积分</a:t>
            </a:r>
            <a:endParaRPr lang="zh-CN"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632206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管理员端：审核、调度与数据看板支撑运营管理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66065" y="979170"/>
            <a:ext cx="4239895" cy="528129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79730" y="1353820"/>
            <a:ext cx="2095500" cy="1155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志愿者审核管理</a:t>
            </a:r>
            <a:endParaRPr sz="16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79730" y="1801495"/>
            <a:ext cx="2857500" cy="977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查看申请人基本信息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79730" y="2066925"/>
            <a:ext cx="2857500" cy="977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核验认证资料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79730" y="2353945"/>
            <a:ext cx="2857500" cy="977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通过 / 驳回 / 补充材料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79730" y="2640965"/>
            <a:ext cx="2857500" cy="977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同步更新账号权限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42910" y="979805"/>
            <a:ext cx="3796665" cy="525970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362950" y="127889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需求审核与工单调度</a:t>
            </a:r>
            <a:endParaRPr sz="16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62950" y="1795145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审核服务内容、时间与地址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362950" y="217551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人工干预异常订单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362950" y="2555875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分配志愿者资源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62950" y="290449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保证前后台调度一致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352550" y="6631305"/>
            <a:ext cx="9486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运营价值：用审核控制保障服务质量，用统计分析发现高频需求和资源配置问题。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79730" y="1353820"/>
            <a:ext cx="2095500" cy="1155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志愿者审核管理</a:t>
            </a:r>
            <a:endParaRPr sz="16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885" y="3055620"/>
            <a:ext cx="3526155" cy="2949575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420" y="3253105"/>
            <a:ext cx="3500755" cy="2752725"/>
          </a:xfrm>
          <a:prstGeom prst="rect">
            <a:avLst/>
          </a:prstGeom>
        </p:spPr>
      </p:pic>
      <p:sp>
        <p:nvSpPr>
          <p:cNvPr id="40" name="矩形 39"/>
          <p:cNvSpPr>
            <a:spLocks noGrp="1"/>
          </p:cNvSpPr>
          <p:nvPr/>
        </p:nvSpPr>
        <p:spPr>
          <a:xfrm>
            <a:off x="4323715" y="979805"/>
            <a:ext cx="3719195" cy="528129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505960" y="127889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数据看板</a:t>
            </a:r>
            <a:endParaRPr lang="zh-CN" sz="16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335" y="1708785"/>
            <a:ext cx="3448685" cy="45523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实时通信与积分：让服务过程可沟通、可激励、可留痕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0100" y="1333500"/>
            <a:ext cx="4953000" cy="407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71550" y="1466850"/>
            <a:ext cx="461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订单级实时聊天：围绕工单沉淀沟通记录</a:t>
            </a:r>
            <a:endParaRPr sz="15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89690" y="1847850"/>
            <a:ext cx="3373821" cy="34290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38900" y="1333500"/>
            <a:ext cx="4953000" cy="407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610350" y="1466850"/>
            <a:ext cx="461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积分激励机制：服务积分与兑换商城</a:t>
            </a:r>
            <a:endParaRPr sz="15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610350" y="2507476"/>
            <a:ext cx="4610100" cy="2109749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143000" y="5905500"/>
            <a:ext cx="990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真实页面展示：Socket.io 支撑服务过程沟通；积分商城把服务完成、质量反馈和持续参与连接起来。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系统测试：覆盖功能、流程联动与异常场景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381125"/>
            <a:ext cx="10629900" cy="49530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71550" y="15240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测试类型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028950" y="1524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0" y="1524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876425"/>
            <a:ext cx="106299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0669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功能测试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28950" y="20002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验证各模块功能正常使用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0" y="20669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三端全部功能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2505075"/>
            <a:ext cx="10629900" cy="6286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26955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流程联动测试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028950" y="26289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验证完整业务链条顺畅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0" y="269557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订单流转、状态同步、角色协同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3133725"/>
            <a:ext cx="106299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71550" y="33242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异常场景测试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028950" y="32575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验证边界情况下的系统反馈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0" y="33242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空值提交、越权访问、重复操作、消息延迟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52500" y="436245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8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测试结论</a:t>
            </a:r>
            <a:endParaRPr sz="180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857500" y="43434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三类角色均可在权限范围内完成操作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857500" y="47625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登录认证、需求发布、订单审核、任务接单、服务执行、积分奖励和聊天沟通功能正常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857500" y="51816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订单状态流转清晰，前后端分离架构和实时通信机制可用性良好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742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核心测试用例：关键链路均符合预期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1504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编号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962150" y="15049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测试项目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858250" y="15049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实际结果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838325"/>
            <a:ext cx="108204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2009775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L1-L5</a:t>
            </a:r>
            <a:endParaRPr sz="12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962150" y="1990725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注册登录与权限控制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667750" y="20097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符合预期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28875"/>
            <a:ext cx="10820400" cy="5905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95350" y="2600325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D1-D5</a:t>
            </a:r>
            <a:endParaRPr sz="12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962150" y="2581275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需求发布与订单跟踪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667750" y="26003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符合预期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019425"/>
            <a:ext cx="108204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95350" y="3190875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V1-V5</a:t>
            </a:r>
            <a:endParaRPr sz="12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962150" y="3171825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志愿者接单与服务执行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0" y="31908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符合预期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3609975"/>
            <a:ext cx="10820400" cy="5905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95350" y="3781425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M1-M5</a:t>
            </a:r>
            <a:endParaRPr sz="12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962150" y="3762375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后台审核与实时通信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667750" y="37814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符合预期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428750" y="4953000"/>
            <a:ext cx="9334500" cy="762000"/>
          </a:xfrm>
          <a:prstGeom prst="rect">
            <a:avLst/>
          </a:prstGeom>
          <a:solidFill>
            <a:srgbClr val="FFE8CF"/>
          </a:solidFill>
          <a:ln w="0">
            <a:solidFill>
              <a:srgbClr val="FFE8C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085340" y="5105400"/>
            <a:ext cx="136461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</a:t>
            </a:r>
            <a:r>
              <a:rPr lang="zh-CN"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lang="zh-CN" sz="1575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616575" y="5105400"/>
            <a:ext cx="527748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符合预期，系统正常</a:t>
            </a:r>
            <a:r>
              <a:rPr lang="zh-CN"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运转</a:t>
            </a:r>
            <a:endParaRPr lang="zh-CN" sz="14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838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研究成果：完成社区智慧助老服务对接平台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905000"/>
            <a:ext cx="3190875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085850" y="2171700"/>
            <a:ext cx="514350" cy="5143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85850" y="22288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33550" y="21907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平台实现</a:t>
            </a:r>
            <a:endParaRPr sz="16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81100" y="2952750"/>
            <a:ext cx="2571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完成基于 Node.js + React 的社区“智慧助老”服务对接平台。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95800" y="1905000"/>
            <a:ext cx="3190875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4724400" y="2171700"/>
            <a:ext cx="514350" cy="5143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724400" y="22288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372100" y="21907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三端协同</a:t>
            </a:r>
            <a:endParaRPr sz="16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19650" y="2952750"/>
            <a:ext cx="2571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支持老人/家属端、志愿者端和管理员端协同工作。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34350" y="1905000"/>
            <a:ext cx="3190875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362950" y="2171700"/>
            <a:ext cx="514350" cy="5143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62950" y="22288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010650" y="21907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业务闭环</a:t>
            </a:r>
            <a:endParaRPr sz="16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458200" y="2952750"/>
            <a:ext cx="2571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实现需求发布、匹配、执行、反馈、评价的完整链路。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24000" y="57340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整体效果：平台能够把服务对象、志愿者资源和社区管理流程统一起来。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创新点：围绕协同、实时、激励与决策形成组合能力</a:t>
            </a:r>
            <a:endParaRPr sz="23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619250"/>
            <a:ext cx="4762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43000" y="1924050"/>
            <a:ext cx="514350" cy="5143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202882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847850" y="1857375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多角色统一平台</a:t>
            </a:r>
            <a:endParaRPr sz="1575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847850" y="220980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打破信息孤岛，实现服务信息集中管理。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0" y="1619250"/>
            <a:ext cx="4762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6667500" y="1924050"/>
            <a:ext cx="514350" cy="5143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67500" y="202882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372350" y="1857375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实时通信 + 地图辅助</a:t>
            </a:r>
            <a:endParaRPr sz="1575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72350" y="220980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Socket.io 即时同步，高德地图辅助定位和接单判断。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3429000"/>
            <a:ext cx="4762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143000" y="3733800"/>
            <a:ext cx="514350" cy="5143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43000" y="383857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847850" y="3667125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积分激励机制</a:t>
            </a:r>
            <a:endParaRPr sz="1575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847850" y="40195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服务时长与完成质量挂钩，促进志愿者持续参与。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77000" y="3429000"/>
            <a:ext cx="4762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6667500" y="3733800"/>
            <a:ext cx="514350" cy="5143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67500" y="383857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372350" y="3667125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数据看板辅助决策</a:t>
            </a:r>
            <a:endParaRPr sz="1575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372350" y="40195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ECharts 可视化运营数据，辅助社区管理。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不足与展望：从可用走向更智能、更适老、更可扩展</a:t>
            </a:r>
            <a:endParaRPr sz="23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857375"/>
            <a:ext cx="31908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857375"/>
            <a:ext cx="3190875" cy="5143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81100" y="26384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智能推荐算法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81100" y="32099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适老化交互细节打磨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81100" y="37814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高并发场景性能优化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1990725"/>
            <a:ext cx="2809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待优化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95800" y="1857375"/>
            <a:ext cx="31908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95800" y="1857375"/>
            <a:ext cx="3190875" cy="51435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819650" y="26384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健康监测接入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19650" y="32099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紧急求助功能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19650" y="37814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多社区资源联动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19650" y="43529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AI 辅助调度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86300" y="1990725"/>
            <a:ext cx="2809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可扩展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34350" y="1857375"/>
            <a:ext cx="31908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34350" y="1857375"/>
            <a:ext cx="3190875" cy="514350"/>
          </a:xfrm>
          <a:prstGeom prst="rect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458200" y="26384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为社区养老服务数字化提供可落地方案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458200" y="32099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支持本地社区治理场景持续演进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24850" y="1990725"/>
            <a:ext cx="2809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推广价值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219200" y="5810250"/>
            <a:ext cx="9753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后续方向：在保证基础流程稳定的前提下，引入更精准的匹配策略和更友好的老年人交互体验。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762000"/>
            <a:ext cx="3048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33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致谢</a:t>
            </a:r>
            <a:endParaRPr sz="33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600200"/>
            <a:ext cx="10439400" cy="9525"/>
          </a:xfrm>
          <a:prstGeom prst="rect">
            <a:avLst/>
          </a:prstGeom>
          <a:solidFill>
            <a:srgbClr val="D9E2E7"/>
          </a:solidFill>
          <a:ln w="0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2190750"/>
            <a:ext cx="819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1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衷心感谢指导教师余小军老师的悉心指导</a:t>
            </a:r>
            <a:endParaRPr sz="210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3950" y="26860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在课题方向、功能取舍、框架搭建、实现细节和论文写作规范等方面给予了重要帮助。</a:t>
            </a:r>
            <a:endParaRPr sz="15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524250"/>
            <a:ext cx="914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感谢学院老师的专业基础培养，感谢同学朋友在资料查找、功能测试、界面反馈和论文修改中的帮助。</a:t>
            </a:r>
            <a:endParaRPr sz="15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4191000"/>
            <a:ext cx="666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感谢家人一直以来的理解、支持与鼓励。</a:t>
            </a:r>
            <a:endParaRPr sz="15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00500" y="5429250"/>
            <a:ext cx="4191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25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谢谢各位老师！</a:t>
            </a:r>
            <a:endParaRPr sz="25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952625" y="1143000"/>
            <a:ext cx="8286750" cy="3429000"/>
          </a:xfrm>
          <a:prstGeom prst="rect">
            <a:avLst/>
          </a:prstGeom>
          <a:solidFill>
            <a:srgbClr val="FFF8F1"/>
          </a:solidFill>
          <a:ln w="0">
            <a:solidFill>
              <a:srgbClr val="FFF8F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3714750" y="1857375"/>
            <a:ext cx="4762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51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51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</a:t>
            </a:r>
            <a:endParaRPr lang="en-US" sz="51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429000" y="3000375"/>
            <a:ext cx="533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22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欢迎各位老师批评指正</a:t>
            </a:r>
            <a:endParaRPr sz="22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381250" y="5286375"/>
            <a:ext cx="1333500" cy="3619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381250" y="53721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需求发布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381500" y="5286375"/>
            <a:ext cx="1333500" cy="361950"/>
          </a:xfrm>
          <a:prstGeom prst="rect">
            <a:avLst/>
          </a:prstGeom>
          <a:solidFill>
            <a:srgbClr val="69B3C9"/>
          </a:solidFill>
          <a:ln w="0">
            <a:solidFill>
              <a:srgbClr val="69B3C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381500" y="53721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任务匹配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381750" y="5286375"/>
            <a:ext cx="1333500" cy="361950"/>
          </a:xfrm>
          <a:prstGeom prst="rect">
            <a:avLst/>
          </a:prstGeom>
          <a:solidFill>
            <a:srgbClr val="7ECBA3"/>
          </a:solidFill>
          <a:ln w="0">
            <a:solidFill>
              <a:srgbClr val="7ECBA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53721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过程跟踪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0" y="5286375"/>
            <a:ext cx="1333500" cy="3619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382000" y="53721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评价反馈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3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4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5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6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7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8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9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0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1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2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3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4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5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6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7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8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9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0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1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2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3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4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5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6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7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8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9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0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1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2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3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4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5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6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7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8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9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0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1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2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3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4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5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6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7.xml><?xml version="1.0" encoding="utf-8"?>
<p:tagLst xmlns:p="http://schemas.openxmlformats.org/presentationml/2006/main">
  <p:tag name="KSO_WM_DIAGRAM_VIRTUALLY_FRAME" val="{&quot;height&quot;:322.5,&quot;left&quot;:40.5,&quot;top&quot;:103.5,&quot;width&quot;:879}"/>
</p:tagLst>
</file>

<file path=ppt/tags/tag48.xml><?xml version="1.0" encoding="utf-8"?>
<p:tagLst xmlns:p="http://schemas.openxmlformats.org/presentationml/2006/main">
  <p:tag name="KSO_WM_DIAGRAM_VIRTUALLY_FRAME" val="{&quot;height&quot;:322.5,&quot;left&quot;:40.5,&quot;top&quot;:103.5,&quot;width&quot;:879}"/>
</p:tagLst>
</file>

<file path=ppt/tags/tag49.xml><?xml version="1.0" encoding="utf-8"?>
<p:tagLst xmlns:p="http://schemas.openxmlformats.org/presentationml/2006/main">
  <p:tag name="KSO_WM_DIAGRAM_VIRTUALLY_FRAME" val="{&quot;height&quot;:322.5,&quot;left&quot;:40.5,&quot;top&quot;:103.5,&quot;width&quot;:879}"/>
</p:tagLst>
</file>

<file path=ppt/tags/tag50.xml><?xml version="1.0" encoding="utf-8"?>
<p:tagLst xmlns:p="http://schemas.openxmlformats.org/presentationml/2006/main">
  <p:tag name="KSO_WM_DIAGRAM_VIRTUALLY_FRAME" val="{&quot;height&quot;:322.5,&quot;left&quot;:40.5,&quot;top&quot;:103.5,&quot;width&quot;:879}"/>
</p:tagLst>
</file>

<file path=ppt/tags/tag51.xml><?xml version="1.0" encoding="utf-8"?>
<p:tagLst xmlns:p="http://schemas.openxmlformats.org/presentationml/2006/main">
  <p:tag name="KSO_WM_DIAGRAM_VIRTUALLY_FRAME" val="{&quot;height&quot;:322.5,&quot;left&quot;:40.5,&quot;top&quot;:103.5,&quot;width&quot;:879}"/>
</p:tagLst>
</file>

<file path=ppt/tags/tag52.xml><?xml version="1.0" encoding="utf-8"?>
<p:tagLst xmlns:p="http://schemas.openxmlformats.org/presentationml/2006/main">
  <p:tag name="KSO_WM_DIAGRAM_VIRTUALLY_FRAME" val="{&quot;height&quot;:322.5,&quot;left&quot;:40.5,&quot;top&quot;:103.5,&quot;width&quot;:879}"/>
</p:tagLst>
</file>

<file path=ppt/tags/tag53.xml><?xml version="1.0" encoding="utf-8"?>
<p:tagLst xmlns:p="http://schemas.openxmlformats.org/presentationml/2006/main">
  <p:tag name="KSO_WM_DIAGRAM_VIRTUALLY_FRAME" val="{&quot;height&quot;:322.5,&quot;left&quot;:40.5,&quot;top&quot;:103.5,&quot;width&quot;:879}"/>
</p:tagLst>
</file>

<file path=ppt/tags/tag54.xml><?xml version="1.0" encoding="utf-8"?>
<p:tagLst xmlns:p="http://schemas.openxmlformats.org/presentationml/2006/main">
  <p:tag name="KSO_WM_DIAGRAM_VIRTUALLY_FRAME" val="{&quot;height&quot;:322.5,&quot;left&quot;:40.5,&quot;top&quot;:103.5,&quot;width&quot;:879}"/>
</p:tagLst>
</file>

<file path=ppt/tags/tag55.xml><?xml version="1.0" encoding="utf-8"?>
<p:tagLst xmlns:p="http://schemas.openxmlformats.org/presentationml/2006/main">
  <p:tag name="KSO_WM_DIAGRAM_VIRTUALLY_FRAME" val="{&quot;height&quot;:322.5,&quot;left&quot;:40.5,&quot;top&quot;:103.5,&quot;width&quot;:879}"/>
</p:tagLst>
</file>

<file path=ppt/tags/tag56.xml><?xml version="1.0" encoding="utf-8"?>
<p:tagLst xmlns:p="http://schemas.openxmlformats.org/presentationml/2006/main">
  <p:tag name="KSO_WM_DIAGRAM_VIRTUALLY_FRAME" val="{&quot;height&quot;:321,&quot;left&quot;:63,&quot;top&quot;:105,&quot;width&quot;:834}"/>
</p:tagLst>
</file>

<file path=ppt/tags/tag57.xml><?xml version="1.0" encoding="utf-8"?>
<p:tagLst xmlns:p="http://schemas.openxmlformats.org/presentationml/2006/main">
  <p:tag name="KSO_WM_DIAGRAM_VIRTUALLY_FRAME" val="{&quot;height&quot;:321,&quot;left&quot;:63,&quot;top&quot;:105,&quot;width&quot;:834}"/>
</p:tagLst>
</file>

<file path=ppt/tags/tag58.xml><?xml version="1.0" encoding="utf-8"?>
<p:tagLst xmlns:p="http://schemas.openxmlformats.org/presentationml/2006/main">
  <p:tag name="KSO_WM_DIAGRAM_VIRTUALLY_FRAME" val="{&quot;height&quot;:321,&quot;left&quot;:63,&quot;top&quot;:105,&quot;width&quot;:834}"/>
</p:tagLst>
</file>

<file path=ppt/tags/tag59.xml><?xml version="1.0" encoding="utf-8"?>
<p:tagLst xmlns:p="http://schemas.openxmlformats.org/presentationml/2006/main">
  <p:tag name="KSO_WM_DIAGRAM_VIRTUALLY_FRAME" val="{&quot;height&quot;:321,&quot;left&quot;:63,&quot;top&quot;:105,&quot;width&quot;:834}"/>
</p:tagLst>
</file>

<file path=ppt/tags/tag60.xml><?xml version="1.0" encoding="utf-8"?>
<p:tagLst xmlns:p="http://schemas.openxmlformats.org/presentationml/2006/main">
  <p:tag name="KSO_WM_DIAGRAM_VIRTUALLY_FRAME" val="{&quot;height&quot;:321,&quot;left&quot;:63,&quot;top&quot;:105,&quot;width&quot;:834}"/>
</p:tagLst>
</file>

<file path=ppt/tags/tag61.xml><?xml version="1.0" encoding="utf-8"?>
<p:tagLst xmlns:p="http://schemas.openxmlformats.org/presentationml/2006/main">
  <p:tag name="KSO_WM_DIAGRAM_VIRTUALLY_FRAME" val="{&quot;height&quot;:321,&quot;left&quot;:63,&quot;top&quot;:105,&quot;width&quot;:834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4263</Words>
  <Application>WPS 演示</Application>
  <PresentationFormat>Converted Presentation</PresentationFormat>
  <Paragraphs>667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WPS_1661334745</cp:lastModifiedBy>
  <cp:revision>3</cp:revision>
  <dcterms:created xsi:type="dcterms:W3CDTF">2026-05-27T08:25:00Z</dcterms:created>
  <dcterms:modified xsi:type="dcterms:W3CDTF">2026-05-27T09:23:44Z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E91CF3B1BED84E668F72E8B7CAC077DB_13</vt:lpwstr>
  </property>
</Properties>
</file>